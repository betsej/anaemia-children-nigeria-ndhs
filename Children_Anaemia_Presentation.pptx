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se Study" id="{7907BA79-47A9-4F75-B8C3-06A3E1BB7DA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9" d="100"/>
          <a:sy n="59" d="100"/>
        </p:scale>
        <p:origin x="8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F2937"/>
                </a:solidFill>
                <a:latin typeface="Arial"/>
              </a:rPr>
              <a:t>Children with anemia by wealth group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Children</c:v>
                </c:pt>
              </c:strCache>
            </c:strRef>
          </c:tx>
          <c:spPr>
            <a:solidFill>
              <a:srgbClr val="1E88E5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Poorest</c:v>
                </c:pt>
                <c:pt idx="1">
                  <c:v>Poorer</c:v>
                </c:pt>
                <c:pt idx="2">
                  <c:v>Middle</c:v>
                </c:pt>
                <c:pt idx="3">
                  <c:v>Richer</c:v>
                </c:pt>
                <c:pt idx="4">
                  <c:v>Richest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1624</c:v>
                </c:pt>
                <c:pt idx="1">
                  <c:v>1538</c:v>
                </c:pt>
                <c:pt idx="2">
                  <c:v>1520</c:v>
                </c:pt>
                <c:pt idx="3">
                  <c:v>1404</c:v>
                </c:pt>
                <c:pt idx="4">
                  <c:v>917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2D2-4EBC-904E-30EDCF57E3C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F2937"/>
                </a:solidFill>
                <a:latin typeface="Arial"/>
              </a:rPr>
              <a:t>Taking iron pills (% of each wealth group)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Iron</c:v>
                </c:pt>
              </c:strCache>
            </c:strRef>
          </c:tx>
          <c:spPr>
            <a:solidFill>
              <a:srgbClr val="8B1A2B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Poorest</c:v>
                </c:pt>
                <c:pt idx="1">
                  <c:v>Poorer</c:v>
                </c:pt>
                <c:pt idx="2">
                  <c:v>Middle</c:v>
                </c:pt>
                <c:pt idx="3">
                  <c:v>Richer</c:v>
                </c:pt>
                <c:pt idx="4">
                  <c:v>Richest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10.6</c:v>
                </c:pt>
                <c:pt idx="1">
                  <c:v>12.5</c:v>
                </c:pt>
                <c:pt idx="2">
                  <c:v>21.1</c:v>
                </c:pt>
                <c:pt idx="3">
                  <c:v>27.8</c:v>
                </c:pt>
                <c:pt idx="4">
                  <c:v>30.1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83-4CE8-9650-1FFD5D63790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6400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858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dirty="0"/>
              <a:t>Children's Anemia in Nigeria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640080" y="1920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2018 NDHS Case Study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317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Orherime Betty Ejakpovi | Data Analyst | Excel, SQL, Power BI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10896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Background. </a:t>
            </a:r>
            <a:r>
              <a:rPr lang="en-US" sz="1600" dirty="0">
                <a:solidFill>
                  <a:schemeClr val="bg1"/>
                </a:solidFill>
              </a:rPr>
              <a:t>Anemia limits children's growth and development. The 2018 Nigeria Demographic and Health Survey records children's hemoglobin together with household details, which lets us see who is most affected.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858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dirty="0"/>
              <a:t>Business Problem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Main question: </a:t>
            </a:r>
            <a:r>
              <a:rPr lang="en-US" sz="1600" dirty="0">
                <a:solidFill>
                  <a:schemeClr val="tx1"/>
                </a:solidFill>
              </a:rPr>
              <a:t>Which children are most affected by anemia, and where can prevention reach them?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How severe is it? </a:t>
            </a:r>
            <a:r>
              <a:rPr lang="en-US" sz="1600" dirty="0">
                <a:solidFill>
                  <a:schemeClr val="tx1"/>
                </a:solidFill>
              </a:rPr>
              <a:t>Mild, moderate or severe, and average hemoglobin.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Who is affected? </a:t>
            </a:r>
            <a:r>
              <a:rPr lang="en-US" sz="1600" dirty="0">
                <a:solidFill>
                  <a:schemeClr val="tx1"/>
                </a:solidFill>
              </a:rPr>
              <a:t>Wealth group, rural or urban home, mother’s education and age.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What are the gaps? </a:t>
            </a:r>
            <a:r>
              <a:rPr lang="en-US" sz="1600" dirty="0">
                <a:solidFill>
                  <a:schemeClr val="tx1"/>
                </a:solidFill>
              </a:rPr>
              <a:t>Iron supplement use across wealth groups.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858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dirty="0"/>
              <a:t>Data Collection &amp; Preparation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Source: </a:t>
            </a:r>
            <a:r>
              <a:rPr lang="en-US" sz="1600" dirty="0">
                <a:solidFill>
                  <a:schemeClr val="tx1"/>
                </a:solidFill>
              </a:rPr>
              <a:t>2018 NDHS, 33,924 survey records and 17 variables.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Cleaned in Excel: </a:t>
            </a:r>
            <a:r>
              <a:rPr lang="en-US" sz="1600" dirty="0">
                <a:solidFill>
                  <a:schemeClr val="tx1"/>
                </a:solidFill>
              </a:rPr>
              <a:t>kept the child’s hemoglobin and anemia level, removed mother-only columns.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Removed: </a:t>
            </a:r>
            <a:r>
              <a:rPr lang="en-US" sz="1600" dirty="0">
                <a:solidFill>
                  <a:schemeClr val="tx1"/>
                </a:solidFill>
              </a:rPr>
              <a:t>children without anemia and blank results.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Result: </a:t>
            </a:r>
            <a:r>
              <a:rPr lang="en-US" sz="1600" dirty="0">
                <a:solidFill>
                  <a:schemeClr val="tx1"/>
                </a:solidFill>
              </a:rPr>
              <a:t>7,003 children with anemia and 11 columns.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Note: </a:t>
            </a:r>
            <a:r>
              <a:rPr lang="en-US" sz="1600" dirty="0">
                <a:solidFill>
                  <a:schemeClr val="tx1"/>
                </a:solidFill>
              </a:rPr>
              <a:t>the data has no child age, so age and education describe the mother.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858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dirty="0"/>
              <a:t>Analytical Approach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Tools: </a:t>
            </a:r>
            <a:r>
              <a:rPr lang="en-US" sz="1600" dirty="0">
                <a:solidFill>
                  <a:schemeClr val="tx1"/>
                </a:solidFill>
              </a:rPr>
              <a:t>Excel for cleaning and filtering, Power BI for the data model, KPI cards and charts.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Methods: </a:t>
            </a:r>
            <a:r>
              <a:rPr lang="en-US" sz="1600" dirty="0">
                <a:solidFill>
                  <a:schemeClr val="tx1"/>
                </a:solidFill>
              </a:rPr>
              <a:t>exploratory analysis, descriptive statistics and comparison across groups.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Output: </a:t>
            </a:r>
            <a:r>
              <a:rPr lang="en-US" sz="1600" dirty="0">
                <a:solidFill>
                  <a:schemeClr val="tx1"/>
                </a:solidFill>
              </a:rPr>
              <a:t>a 3-page Power BI dashboard (The Pattern, The Gap, Insight).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858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dirty="0"/>
              <a:t>Analysis Tasks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1. </a:t>
            </a:r>
            <a:r>
              <a:rPr lang="en-US" sz="1600" dirty="0">
                <a:solidFill>
                  <a:schemeClr val="tx1"/>
                </a:solidFill>
              </a:rPr>
              <a:t>Break down anemia by severity and average hemoglobin.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2. </a:t>
            </a:r>
            <a:r>
              <a:rPr lang="en-US" sz="1600" dirty="0">
                <a:solidFill>
                  <a:schemeClr val="tx1"/>
                </a:solidFill>
              </a:rPr>
              <a:t>Compare cases by wealth, residence and mother’s education.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3. </a:t>
            </a:r>
            <a:r>
              <a:rPr lang="en-US" sz="1600" dirty="0">
                <a:solidFill>
                  <a:schemeClr val="tx1"/>
                </a:solidFill>
              </a:rPr>
              <a:t>Check iron pill use, overall and by wealth group.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4. </a:t>
            </a:r>
            <a:r>
              <a:rPr lang="en-US" sz="1600" dirty="0">
                <a:solidFill>
                  <a:schemeClr val="tx1"/>
                </a:solidFill>
              </a:rPr>
              <a:t>Look at the mother’s age and age at first birth.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858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dirty="0"/>
              <a:t>Insights</a:t>
            </a:r>
          </a:p>
        </p:txBody>
      </p:sp>
      <p:sp>
        <p:nvSpPr>
          <p:cNvPr id="3" name="Card 1"/>
          <p:cNvSpPr/>
          <p:nvPr/>
        </p:nvSpPr>
        <p:spPr>
          <a:xfrm>
            <a:off x="548640" y="109728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7,003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children with anemia</a:t>
            </a:r>
            <a:endParaRPr lang="en-US" sz="1000" dirty="0"/>
          </a:p>
        </p:txBody>
      </p:sp>
      <p:sp>
        <p:nvSpPr>
          <p:cNvPr id="6" name="Card 2"/>
          <p:cNvSpPr/>
          <p:nvPr/>
        </p:nvSpPr>
        <p:spPr>
          <a:xfrm>
            <a:off x="2651760" y="109728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43200" y="1143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56%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1600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moderate (61% moderate or severe)</a:t>
            </a:r>
            <a:endParaRPr lang="en-US" sz="1000" dirty="0"/>
          </a:p>
        </p:txBody>
      </p:sp>
      <p:sp>
        <p:nvSpPr>
          <p:cNvPr id="9" name="Card 3"/>
          <p:cNvSpPr/>
          <p:nvPr/>
        </p:nvSpPr>
        <p:spPr>
          <a:xfrm>
            <a:off x="4754880" y="109728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143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65%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600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live in rural areas</a:t>
            </a:r>
            <a:endParaRPr lang="en-US" sz="1000" dirty="0"/>
          </a:p>
        </p:txBody>
      </p:sp>
      <p:sp>
        <p:nvSpPr>
          <p:cNvPr id="12" name="Card 4"/>
          <p:cNvSpPr/>
          <p:nvPr/>
        </p:nvSpPr>
        <p:spPr>
          <a:xfrm>
            <a:off x="6858000" y="109728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49440" y="1143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80%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1600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not taking iron pills</a:t>
            </a:r>
            <a:endParaRPr lang="en-US" sz="100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548640" y="2103120"/>
          <a:ext cx="402336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Chart 1"/>
          <p:cNvGraphicFramePr/>
          <p:nvPr/>
        </p:nvGraphicFramePr>
        <p:xfrm>
          <a:off x="4572000" y="2103120"/>
          <a:ext cx="402336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548640" y="45262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tx1"/>
                </a:solidFill>
              </a:rPr>
              <a:t>Data covers children with anemia only, so it shows who the cases are, not which groups have higher rates.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858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dirty="0"/>
              <a:t>Recommendations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Target rural and low-income homes: </a:t>
            </a:r>
            <a:r>
              <a:rPr lang="en-US" sz="1600" dirty="0">
                <a:solidFill>
                  <a:schemeClr val="tx1"/>
                </a:solidFill>
              </a:rPr>
              <a:t>65% of cases are rural and the poorest group has the most.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Make iron easier to get: </a:t>
            </a:r>
            <a:r>
              <a:rPr lang="en-US" sz="1600" dirty="0">
                <a:solidFill>
                  <a:schemeClr val="tx1"/>
                </a:solidFill>
              </a:rPr>
              <a:t>use is 10.6% in the poorest group against 30.1% in the richest.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Reach mothers in their 20s and early 30s: </a:t>
            </a:r>
            <a:r>
              <a:rPr lang="en-US" sz="1600" dirty="0">
                <a:solidFill>
                  <a:schemeClr val="tx1"/>
                </a:solidFill>
              </a:rPr>
              <a:t>half of cases are linked to mothers aged 25 to 34.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Use simple, spoken messages: </a:t>
            </a:r>
            <a:r>
              <a:rPr lang="en-US" sz="1600" dirty="0">
                <a:solidFill>
                  <a:schemeClr val="tx1"/>
                </a:solidFill>
              </a:rPr>
              <a:t>42% of mothers have no formal education.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Screen early in rural health centres: </a:t>
            </a:r>
            <a:r>
              <a:rPr lang="en-US" sz="1600" dirty="0">
                <a:solidFill>
                  <a:schemeClr val="tx1"/>
                </a:solidFill>
              </a:rPr>
              <a:t>83% of severe cases are rural.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858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dirty="0"/>
              <a:t>Expected Impact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Earlier detection: </a:t>
            </a:r>
            <a:r>
              <a:rPr lang="en-US" sz="1600" dirty="0">
                <a:solidFill>
                  <a:schemeClr val="tx1"/>
                </a:solidFill>
              </a:rPr>
              <a:t>screening in rural clinics finds anemia before it becomes severe.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Better iron coverage: </a:t>
            </a:r>
            <a:r>
              <a:rPr lang="en-US" sz="1600" dirty="0">
                <a:solidFill>
                  <a:schemeClr val="tx1"/>
                </a:solidFill>
              </a:rPr>
              <a:t>closing the gap between the poorest (10.6%) and richest (30.1%) homes.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Better targeting: </a:t>
            </a:r>
            <a:r>
              <a:rPr lang="en-US" sz="1600" dirty="0">
                <a:solidFill>
                  <a:schemeClr val="tx1"/>
                </a:solidFill>
              </a:rPr>
              <a:t>programmes focus on the households with the most cases.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262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tx1"/>
                </a:solidFill>
              </a:rPr>
              <a:t>Expected impact only. It has not been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858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dirty="0"/>
              <a:t>Challenges &amp; Solutions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Two anemia sets in one file: </a:t>
            </a:r>
            <a:r>
              <a:rPr lang="en-US" sz="1600" dirty="0">
                <a:solidFill>
                  <a:schemeClr val="tx1"/>
                </a:solidFill>
              </a:rPr>
              <a:t>used the child columns and removed the mother’s.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Only anemic children in the data: </a:t>
            </a:r>
            <a:r>
              <a:rPr lang="en-US" sz="1600" dirty="0">
                <a:solidFill>
                  <a:schemeClr val="tx1"/>
                </a:solidFill>
              </a:rPr>
              <a:t>findings describe who the cases are, not rates.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No child age: </a:t>
            </a:r>
            <a:r>
              <a:rPr lang="en-US" sz="1600" dirty="0">
                <a:solidFill>
                  <a:schemeClr val="tx1"/>
                </a:solidFill>
              </a:rPr>
              <a:t>used the mother’s age and labelled it clearly.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Survey terms: </a:t>
            </a:r>
            <a:r>
              <a:rPr lang="en-US" sz="1600" dirty="0">
                <a:solidFill>
                  <a:schemeClr val="tx1"/>
                </a:solidFill>
              </a:rPr>
              <a:t>raw data is not published, only results.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858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dirty="0"/>
              <a:t>Conclusion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Key message: </a:t>
            </a:r>
            <a:r>
              <a:rPr lang="en-US" sz="1600" dirty="0">
                <a:solidFill>
                  <a:schemeClr val="tx1"/>
                </a:solidFill>
              </a:rPr>
              <a:t>anemia is not linked to one factor. The most cases are in rural, low-income homes with low iron use and mothers with little schooling.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Next step: </a:t>
            </a:r>
            <a:r>
              <a:rPr lang="en-US" sz="1600" dirty="0">
                <a:solidFill>
                  <a:schemeClr val="tx1"/>
                </a:solidFill>
              </a:rPr>
              <a:t>a combined approach of iron access, community health workers and simple communication.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aemia Case Study">
  <a:themeElements>
    <a:clrScheme name="Anaemia Case Study">
      <a:dk1>
        <a:srgbClr val="1F2937"/>
      </a:dk1>
      <a:lt1>
        <a:srgbClr val="FFFFFF"/>
      </a:lt1>
      <a:dk2>
        <a:srgbClr val="7A1020"/>
      </a:dk2>
      <a:lt2>
        <a:srgbClr val="F5F1EE"/>
      </a:lt2>
      <a:accent1>
        <a:srgbClr val="8B1A2B"/>
      </a:accent1>
      <a:accent2>
        <a:srgbClr val="1E88E5"/>
      </a:accent2>
      <a:accent3>
        <a:srgbClr val="C98A1B"/>
      </a:accent3>
      <a:accent4>
        <a:srgbClr val="2E7D5B"/>
      </a:accent4>
      <a:accent5>
        <a:srgbClr val="5B6B7F"/>
      </a:accent5>
      <a:accent6>
        <a:srgbClr val="B0B8C4"/>
      </a:accent6>
      <a:hlink>
        <a:srgbClr val="1E88E5"/>
      </a:hlink>
      <a:folHlink>
        <a:srgbClr val="7A1020"/>
      </a:folHlink>
    </a:clrScheme>
    <a:fontScheme name="Anaemia Case Study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631</Words>
  <Application>Microsoft Office PowerPoint</Application>
  <PresentationFormat>On-screen Show (16:9)</PresentationFormat>
  <Paragraphs>74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Anaemia Case Study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Children's Anemia in Nigeria: Case Study</dc:title>
  <dc:subject>PptxGenJS Presentation</dc:subject>
  <dc:creator>Orherime Betty Ejakpovi</dc:creator>
  <cp:lastModifiedBy>Oladmeji Salami</cp:lastModifiedBy>
  <cp:revision>2</cp:revision>
  <dcterms:created xsi:type="dcterms:W3CDTF">2026-10-15T20:17:27Z</dcterms:created>
  <dcterms:modified xsi:type="dcterms:W3CDTF">2026-10-17T07:05:47Z</dcterms:modified>
</cp:coreProperties>
</file>